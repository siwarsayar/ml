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Wisconsin Breast Cancer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E5FF"/>
                </a:solidFill>
              </a:defRPr>
            </a:pPr>
            <a:r>
              <a:t>Pipeline Machine Learning — Classification binaire de tumeurs mammaires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754880"/>
            <a:ext cx="2103120" cy="1188720"/>
          </a:xfrm>
          <a:prstGeom prst="roundRect">
            <a:avLst/>
          </a:pr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569</a:t>
            </a:r>
          </a:p>
          <a:p>
            <a:pPr algn="ctr">
              <a:defRPr sz="1200">
                <a:solidFill>
                  <a:srgbClr val="CCE5FF"/>
                </a:solidFill>
              </a:defRPr>
            </a:pPr>
            <a:r>
              <a:t>Observations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4754880"/>
            <a:ext cx="2103120" cy="1188720"/>
          </a:xfrm>
          <a:prstGeom prst="roundRect">
            <a:avLst/>
          </a:pr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30</a:t>
            </a:r>
          </a:p>
          <a:p>
            <a:pPr algn="ctr">
              <a:defRPr sz="1200">
                <a:solidFill>
                  <a:srgbClr val="CCE5FF"/>
                </a:solidFill>
              </a:defRPr>
            </a:pPr>
            <a:r>
              <a:t>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4754880"/>
            <a:ext cx="2103120" cy="1188720"/>
          </a:xfrm>
          <a:prstGeom prst="roundRect">
            <a:avLst/>
          </a:pr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  <a:p>
            <a:pPr algn="ctr">
              <a:defRPr sz="1200">
                <a:solidFill>
                  <a:srgbClr val="CCE5FF"/>
                </a:solidFill>
              </a:defRPr>
            </a:pPr>
            <a:r>
              <a:t>Modèles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4754880"/>
            <a:ext cx="2103120" cy="1188720"/>
          </a:xfrm>
          <a:prstGeom prst="roundRect">
            <a:avLst/>
          </a:prstGeom>
          <a:solidFill>
            <a:srgbClr val="28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99.4%</a:t>
            </a:r>
          </a:p>
          <a:p>
            <a:pPr algn="ctr">
              <a:defRPr sz="1200">
                <a:solidFill>
                  <a:srgbClr val="CCE5FF"/>
                </a:solidFill>
              </a:defRPr>
            </a:pPr>
            <a:r>
              <a:t>AUC-ROC max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Exploration des données (EDA)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</a:defRPr>
            </a:pPr>
            <a:r>
              <a:t>Structure du dataset: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</a:defRPr>
            </a:pPr>
            <a:r>
              <a:t>  • 569 observations, 32 colonnes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</a:defRPr>
            </a:pPr>
            <a:r>
              <a:t>  • 1 colonne ID, 1 cible (diagnosis)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</a:defRPr>
            </a:pPr>
            <a:r>
              <a:t>  • 30 variables numériques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</a:defRPr>
            </a:pPr>
            <a:r>
              <a:t>  • 0 valeur manquante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</a:defRPr>
            </a:pPr>
            <a:r>
              <a:t>Variable cible: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</a:defRPr>
            </a:pPr>
            <a:r>
              <a:t>  • N (Bénigne): 212 observations (37%)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</a:defRPr>
            </a:pPr>
            <a:r>
              <a:t>  • R (Maligne): 357 observations (63%)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</a:defRPr>
            </a:pPr>
            <a:r>
              <a:t>Déséquilibre modéré détecté: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</a:defRPr>
            </a:pPr>
            <a:r>
              <a:t>  → class_weight='balanced' activé</a:t>
            </a:r>
          </a:p>
        </p:txBody>
      </p:sp>
      <p:pic>
        <p:nvPicPr>
          <p:cNvPr id="5" name="Picture 4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🔗 Matrice de corrélation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</a:defRPr>
            </a:pPr>
            <a:r>
              <a:t>Analyse des corrélations: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</a:defRPr>
            </a:pPr>
            <a:r>
              <a:t>Fortes corrélations entre variables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</a:defRPr>
            </a:pPr>
            <a:r>
              <a:t>de même famille: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</a:defRPr>
            </a:pPr>
            <a:r>
              <a:t>  • radius, perimeter, area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</a:defRPr>
            </a:pPr>
            <a:r>
              <a:t>  • concavity, concave points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</a:defRPr>
            </a:pPr>
            <a:r>
              <a:t>  • mean, worst (mêmes mesures)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</a:defRPr>
            </a:pPr>
            <a:r>
              <a:t>→ PCA testée pour réduction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</a:defRPr>
            </a:pPr>
            <a:r>
              <a:t>   de dimensionalité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</a:defRPr>
            </a:pPr>
            <a:r>
              <a:t>→ Features les plus corrélées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</a:defRPr>
            </a:pPr>
            <a:r>
              <a:t>   à la cible en rouge</a:t>
            </a:r>
          </a:p>
        </p:txBody>
      </p:sp>
      <p:pic>
        <p:nvPicPr>
          <p:cNvPr id="5" name="Picture 4" descr="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669280" cy="472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🔧 Pipeline Machine Learning (9 étapes)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71600"/>
            <a:ext cx="1005840" cy="1005840"/>
          </a:xfrm>
          <a:prstGeom prst="ellipse">
            <a:avLst/>
          </a:prstGeom>
          <a:solidFill>
            <a:srgbClr val="2874A6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4688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</a:defRPr>
            </a:pPr>
            <a:r>
              <a:t>Définir</a:t>
            </a:r>
            <a:br/>
            <a:r>
              <a:t>le problème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1371600"/>
            <a:ext cx="1005840" cy="1005840"/>
          </a:xfrm>
          <a:prstGeom prst="ellipse">
            <a:avLst/>
          </a:prstGeom>
          <a:solidFill>
            <a:srgbClr val="2874A6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4688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</a:defRPr>
            </a:pPr>
            <a:r>
              <a:t>Collecter</a:t>
            </a:r>
            <a:br/>
            <a:r>
              <a:t>les données</a:t>
            </a:r>
          </a:p>
        </p:txBody>
      </p:sp>
      <p:sp>
        <p:nvSpPr>
          <p:cNvPr id="8" name="Oval 7"/>
          <p:cNvSpPr/>
          <p:nvPr/>
        </p:nvSpPr>
        <p:spPr>
          <a:xfrm>
            <a:off x="3017520" y="1371600"/>
            <a:ext cx="1005840" cy="1005840"/>
          </a:xfrm>
          <a:prstGeom prst="ellipse">
            <a:avLst/>
          </a:prstGeom>
          <a:solidFill>
            <a:srgbClr val="2874A6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4688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</a:defRPr>
            </a:pPr>
            <a:r>
              <a:t>Explorer</a:t>
            </a:r>
            <a:br/>
            <a:r>
              <a:t>(EDA)</a:t>
            </a:r>
          </a:p>
        </p:txBody>
      </p:sp>
      <p:sp>
        <p:nvSpPr>
          <p:cNvPr id="10" name="Oval 9"/>
          <p:cNvSpPr/>
          <p:nvPr/>
        </p:nvSpPr>
        <p:spPr>
          <a:xfrm>
            <a:off x="4297679" y="1371600"/>
            <a:ext cx="1005840" cy="1005840"/>
          </a:xfrm>
          <a:prstGeom prst="ellipse">
            <a:avLst/>
          </a:prstGeom>
          <a:solidFill>
            <a:srgbClr val="2874A6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19" y="24688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</a:defRPr>
            </a:pPr>
            <a:r>
              <a:t>Préparer</a:t>
            </a:r>
            <a:br/>
            <a:r>
              <a:t>les données</a:t>
            </a:r>
          </a:p>
        </p:txBody>
      </p:sp>
      <p:sp>
        <p:nvSpPr>
          <p:cNvPr id="12" name="Oval 11"/>
          <p:cNvSpPr/>
          <p:nvPr/>
        </p:nvSpPr>
        <p:spPr>
          <a:xfrm>
            <a:off x="5577840" y="1371600"/>
            <a:ext cx="1005840" cy="1005840"/>
          </a:xfrm>
          <a:prstGeom prst="ellipse">
            <a:avLst/>
          </a:prstGeom>
          <a:solidFill>
            <a:srgbClr val="2874A6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4688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</a:defRPr>
            </a:pPr>
            <a:r>
              <a:t>Choisir</a:t>
            </a:r>
            <a:br/>
            <a:r>
              <a:t>les modèles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0" y="1371600"/>
            <a:ext cx="1005840" cy="1005840"/>
          </a:xfrm>
          <a:prstGeom prst="ellipse">
            <a:avLst/>
          </a:prstGeom>
          <a:solidFill>
            <a:srgbClr val="2874A6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2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4688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</a:defRPr>
            </a:pPr>
            <a:r>
              <a:t>Entraîner</a:t>
            </a:r>
            <a:br/>
            <a:r>
              <a:t>&amp; Valider</a:t>
            </a:r>
          </a:p>
        </p:txBody>
      </p:sp>
      <p:sp>
        <p:nvSpPr>
          <p:cNvPr id="16" name="Oval 15"/>
          <p:cNvSpPr/>
          <p:nvPr/>
        </p:nvSpPr>
        <p:spPr>
          <a:xfrm>
            <a:off x="8138159" y="1371600"/>
            <a:ext cx="1005840" cy="1005840"/>
          </a:xfrm>
          <a:prstGeom prst="ellipse">
            <a:avLst/>
          </a:prstGeom>
          <a:solidFill>
            <a:srgbClr val="2874A6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2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999" y="24688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</a:defRPr>
            </a:pPr>
            <a:r>
              <a:t>Évaluer</a:t>
            </a:r>
            <a:br/>
            <a:r>
              <a:t>&amp; Itérer</a:t>
            </a:r>
          </a:p>
        </p:txBody>
      </p:sp>
      <p:sp>
        <p:nvSpPr>
          <p:cNvPr id="18" name="Oval 17"/>
          <p:cNvSpPr/>
          <p:nvPr/>
        </p:nvSpPr>
        <p:spPr>
          <a:xfrm>
            <a:off x="9418319" y="1371600"/>
            <a:ext cx="1005840" cy="1005840"/>
          </a:xfrm>
          <a:prstGeom prst="ellipse">
            <a:avLst/>
          </a:prstGeom>
          <a:solidFill>
            <a:srgbClr val="2874A6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2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9" y="24688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</a:defRPr>
            </a:pPr>
            <a:r>
              <a:t>Déployer</a:t>
            </a:r>
          </a:p>
        </p:txBody>
      </p:sp>
      <p:sp>
        <p:nvSpPr>
          <p:cNvPr id="20" name="Oval 19"/>
          <p:cNvSpPr/>
          <p:nvPr/>
        </p:nvSpPr>
        <p:spPr>
          <a:xfrm>
            <a:off x="10698480" y="1371600"/>
            <a:ext cx="1005840" cy="1005840"/>
          </a:xfrm>
          <a:prstGeom prst="ellipse">
            <a:avLst/>
          </a:prstGeom>
          <a:solidFill>
            <a:srgbClr val="2874A6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22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61320" y="24688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</a:defRPr>
            </a:pPr>
            <a:r>
              <a:t>Monitorer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474720"/>
            <a:ext cx="5486400" cy="3108960"/>
          </a:xfrm>
          <a:prstGeom prst="roundRect">
            <a:avLst/>
          </a:prstGeom>
          <a:solidFill>
            <a:srgbClr val="F5F7FA"/>
          </a:solidFill>
          <a:ln>
            <a:solidFill>
              <a:srgbClr val="28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A5276"/>
                </a:solidFill>
              </a:defRPr>
            </a:pPr>
            <a:r>
              <a:t>Prétraitement testé: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StandardScaler (z-score)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MinMaxScaler [0,1]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Sans PCA (30 features)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Avec PCA 95% variance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474720"/>
            <a:ext cx="5486400" cy="3108960"/>
          </a:xfrm>
          <a:prstGeom prst="roundRect">
            <a:avLst/>
          </a:prstGeom>
          <a:solidFill>
            <a:srgbClr val="F5F7FA"/>
          </a:solidFill>
          <a:ln>
            <a:solidFill>
              <a:srgbClr val="28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A5276"/>
                </a:solidFill>
              </a:defRPr>
            </a:pPr>
            <a:r>
              <a:t>Split Train/Test: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Train: 455 obs (80%)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Test: 114 obs (20%)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Stratifié (conserve proportions)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GridSearchCV + 5-Fold CV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Scoring: accuracy, F1, AUC-ROC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• Refit sur F1-score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🤖 Modèles comparés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5669280" cy="2468880"/>
          </a:xfrm>
          <a:prstGeom prst="roundRect">
            <a:avLst/>
          </a:prstGeom>
          <a:solidFill>
            <a:srgbClr val="E3F2FD"/>
          </a:solidFill>
          <a:ln>
            <a:solidFill>
              <a:srgbClr val="28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A5276"/>
                </a:solidFill>
              </a:defRPr>
            </a:pPr>
            <a:r>
              <a:t>📈 Logistic Regression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Baseline linéaire interprétable</a:t>
            </a:r>
          </a:p>
          <a:p>
            <a:pPr>
              <a:defRPr sz="1300" i="1">
                <a:solidFill>
                  <a:srgbClr val="666666"/>
                </a:solidFill>
              </a:defRPr>
            </a:pPr>
            <a:r>
              <a:t>C ∈ [0.01, 0.1, 1, 10]</a:t>
            </a:r>
            <a:br/>
            <a:r>
              <a:t>solvers: liblinear, lbfgs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669280" cy="2468880"/>
          </a:xfrm>
          <a:prstGeom prst="roundRect">
            <a:avLst/>
          </a:prstGeom>
          <a:solidFill>
            <a:srgbClr val="FFF3E0"/>
          </a:solidFill>
          <a:ln>
            <a:solidFill>
              <a:srgbClr val="28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A5276"/>
                </a:solidFill>
              </a:defRPr>
            </a:pPr>
            <a:r>
              <a:t>👥 KNN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Similarité entre observations</a:t>
            </a:r>
          </a:p>
          <a:p>
            <a:pPr>
              <a:defRPr sz="1300" i="1">
                <a:solidFill>
                  <a:srgbClr val="666666"/>
                </a:solidFill>
              </a:defRPr>
            </a:pPr>
            <a:r>
              <a:t>k ∈ [3,5,7,9,11]</a:t>
            </a:r>
            <a:br/>
            <a:r>
              <a:t>weights: uniform, distance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931920"/>
            <a:ext cx="5669280" cy="2468880"/>
          </a:xfrm>
          <a:prstGeom prst="roundRect">
            <a:avLst/>
          </a:prstGeom>
          <a:solidFill>
            <a:srgbClr val="E8F5E9"/>
          </a:solidFill>
          <a:ln>
            <a:solidFill>
              <a:srgbClr val="28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A5276"/>
                </a:solidFill>
              </a:defRPr>
            </a:pPr>
            <a:r>
              <a:t>🌳 Decision Tree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Règles explicites, interprétable</a:t>
            </a:r>
          </a:p>
          <a:p>
            <a:pPr>
              <a:defRPr sz="1300" i="1">
                <a:solidFill>
                  <a:srgbClr val="666666"/>
                </a:solidFill>
              </a:defRPr>
            </a:pPr>
            <a:r>
              <a:t>max_depth ∈ [None,3,5,7,10]</a:t>
            </a:r>
            <a:br/>
            <a:r>
              <a:t>min_samples_split ∈ [2,5,10]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669280" cy="2468880"/>
          </a:xfrm>
          <a:prstGeom prst="roundRect">
            <a:avLst/>
          </a:prstGeom>
          <a:solidFill>
            <a:srgbClr val="F3E5F5"/>
          </a:solidFill>
          <a:ln>
            <a:solidFill>
              <a:srgbClr val="28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A5276"/>
                </a:solidFill>
              </a:defRPr>
            </a:pPr>
            <a:r>
              <a:t>🛡️ SVM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Frontière optimale, noyau RBF</a:t>
            </a:r>
          </a:p>
          <a:p>
            <a:pPr>
              <a:defRPr sz="1300" i="1">
                <a:solidFill>
                  <a:srgbClr val="666666"/>
                </a:solidFill>
              </a:defRPr>
            </a:pPr>
            <a:r>
              <a:t>C ∈ [0.1, 1, 10]</a:t>
            </a:r>
            <a:br/>
            <a:r>
              <a:t>kernels: linear, rbf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📈 Résultats — Validation Croisée (5-Fold)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914400" cy="457200"/>
          </a:xfrm>
          <a:prstGeom prst="rect">
            <a:avLst/>
          </a:prstGeom>
          <a:solidFill>
            <a:srgbClr val="2874A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Rang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188720"/>
            <a:ext cx="3200400" cy="457200"/>
          </a:xfrm>
          <a:prstGeom prst="rect">
            <a:avLst/>
          </a:prstGeom>
          <a:solidFill>
            <a:srgbClr val="2874A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Modèle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188720"/>
            <a:ext cx="2011680" cy="457200"/>
          </a:xfrm>
          <a:prstGeom prst="rect">
            <a:avLst/>
          </a:prstGeom>
          <a:solidFill>
            <a:srgbClr val="2874A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188720"/>
            <a:ext cx="2011680" cy="457200"/>
          </a:xfrm>
          <a:prstGeom prst="rect">
            <a:avLst/>
          </a:prstGeom>
          <a:solidFill>
            <a:srgbClr val="2874A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F1-Score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188720"/>
            <a:ext cx="2011680" cy="457200"/>
          </a:xfrm>
          <a:prstGeom prst="rect">
            <a:avLst/>
          </a:prstGeom>
          <a:solidFill>
            <a:srgbClr val="2874A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AUC-ROC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45920"/>
            <a:ext cx="914400" cy="502920"/>
          </a:xfrm>
          <a:prstGeom prst="rect">
            <a:avLst/>
          </a:prstGeom>
          <a:solidFill>
            <a:srgbClr val="E8F5E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400" b="1">
                <a:solidFill>
                  <a:srgbClr val="2C3E50"/>
                </a:solidFill>
              </a:defRPr>
            </a:pPr>
            <a:r>
              <a:t>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1645920"/>
            <a:ext cx="3200400" cy="502920"/>
          </a:xfrm>
          <a:prstGeom prst="rect">
            <a:avLst/>
          </a:prstGeom>
          <a:solidFill>
            <a:srgbClr val="E8F5E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400" b="1">
                <a:solidFill>
                  <a:srgbClr val="2C3E50"/>
                </a:solidFill>
              </a:defRPr>
            </a:pPr>
            <a:r>
              <a:t>SVM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645920"/>
            <a:ext cx="2011680" cy="502920"/>
          </a:xfrm>
          <a:prstGeom prst="rect">
            <a:avLst/>
          </a:prstGeom>
          <a:solidFill>
            <a:srgbClr val="E8F5E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400" b="1">
                <a:solidFill>
                  <a:srgbClr val="2C3E50"/>
                </a:solidFill>
              </a:defRPr>
            </a:pPr>
            <a:r>
              <a:t>98.02%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645920"/>
            <a:ext cx="2011680" cy="502920"/>
          </a:xfrm>
          <a:prstGeom prst="rect">
            <a:avLst/>
          </a:prstGeom>
          <a:solidFill>
            <a:srgbClr val="E8F5E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400" b="1">
                <a:solidFill>
                  <a:srgbClr val="2C3E50"/>
                </a:solidFill>
              </a:defRPr>
            </a:pPr>
            <a:r>
              <a:t>98.43%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645920"/>
            <a:ext cx="2011680" cy="502920"/>
          </a:xfrm>
          <a:prstGeom prst="rect">
            <a:avLst/>
          </a:prstGeom>
          <a:solidFill>
            <a:srgbClr val="E8F5E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400" b="1">
                <a:solidFill>
                  <a:srgbClr val="2C3E50"/>
                </a:solidFill>
              </a:defRPr>
            </a:pPr>
            <a:r>
              <a:t>99.55%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48840"/>
            <a:ext cx="914400" cy="502920"/>
          </a:xfrm>
          <a:prstGeom prst="rect">
            <a:avLst/>
          </a:prstGeom>
          <a:solidFill>
            <a:srgbClr val="FFF3E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2148840"/>
            <a:ext cx="3200400" cy="502920"/>
          </a:xfrm>
          <a:prstGeom prst="rect">
            <a:avLst/>
          </a:prstGeom>
          <a:solidFill>
            <a:srgbClr val="FFF3E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Logistic Regression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148840"/>
            <a:ext cx="2011680" cy="502920"/>
          </a:xfrm>
          <a:prstGeom prst="rect">
            <a:avLst/>
          </a:prstGeom>
          <a:solidFill>
            <a:srgbClr val="FFF3E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97.80%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148840"/>
            <a:ext cx="2011680" cy="502920"/>
          </a:xfrm>
          <a:prstGeom prst="rect">
            <a:avLst/>
          </a:prstGeom>
          <a:solidFill>
            <a:srgbClr val="FFF3E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98.25%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2148840"/>
            <a:ext cx="2011680" cy="502920"/>
          </a:xfrm>
          <a:prstGeom prst="rect">
            <a:avLst/>
          </a:prstGeom>
          <a:solidFill>
            <a:srgbClr val="FFF3E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99.54%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651760"/>
            <a:ext cx="914400" cy="502920"/>
          </a:xfrm>
          <a:prstGeom prst="rect">
            <a:avLst/>
          </a:prstGeom>
          <a:solidFill>
            <a:srgbClr val="E3F2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2651760"/>
            <a:ext cx="3200400" cy="502920"/>
          </a:xfrm>
          <a:prstGeom prst="rect">
            <a:avLst/>
          </a:prstGeom>
          <a:solidFill>
            <a:srgbClr val="E3F2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KNN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2651760"/>
            <a:ext cx="2011680" cy="502920"/>
          </a:xfrm>
          <a:prstGeom prst="rect">
            <a:avLst/>
          </a:prstGeom>
          <a:solidFill>
            <a:srgbClr val="E3F2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97.58%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651760"/>
            <a:ext cx="2011680" cy="502920"/>
          </a:xfrm>
          <a:prstGeom prst="rect">
            <a:avLst/>
          </a:prstGeom>
          <a:solidFill>
            <a:srgbClr val="E3F2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98.09%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2651760"/>
            <a:ext cx="2011680" cy="502920"/>
          </a:xfrm>
          <a:prstGeom prst="rect">
            <a:avLst/>
          </a:prstGeom>
          <a:solidFill>
            <a:srgbClr val="E3F2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98.92%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154680"/>
            <a:ext cx="914400" cy="502920"/>
          </a:xfrm>
          <a:prstGeom prst="rect">
            <a:avLst/>
          </a:prstGeom>
          <a:solidFill>
            <a:srgbClr val="FFEB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0" y="3154680"/>
            <a:ext cx="3200400" cy="502920"/>
          </a:xfrm>
          <a:prstGeom prst="rect">
            <a:avLst/>
          </a:prstGeom>
          <a:solidFill>
            <a:srgbClr val="FFEB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Decision Tree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3154680"/>
            <a:ext cx="2011680" cy="502920"/>
          </a:xfrm>
          <a:prstGeom prst="rect">
            <a:avLst/>
          </a:prstGeom>
          <a:solidFill>
            <a:srgbClr val="FFEB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93.85%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154680"/>
            <a:ext cx="2011680" cy="502920"/>
          </a:xfrm>
          <a:prstGeom prst="rect">
            <a:avLst/>
          </a:prstGeom>
          <a:solidFill>
            <a:srgbClr val="FFEB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95.08%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3154680"/>
            <a:ext cx="2011680" cy="502920"/>
          </a:xfrm>
          <a:prstGeom prst="rect">
            <a:avLst/>
          </a:prstGeom>
          <a:solidFill>
            <a:srgbClr val="FFEB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95.23%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3657600"/>
            <a:ext cx="11430000" cy="2926080"/>
          </a:xfrm>
          <a:prstGeom prst="roundRect">
            <a:avLst/>
          </a:prstGeom>
          <a:solidFill>
            <a:srgbClr val="F5F7FA"/>
          </a:solidFill>
          <a:ln>
            <a:solidFill>
              <a:srgbClr val="28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5276"/>
                </a:solidFill>
              </a:defRPr>
            </a:pPr>
            <a:r>
              <a:t>Meilleurs hyperparamètres par modèle: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🥇 SVM: C=10, kernel=rbf, gamma=scale, MinMaxScaler, sans PCA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🥈 Logistic Regression: C=1, solver=lbfgs, StandardScaler, sans PCA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🥉 KNN: k=5, weights=distance, metric=manhattan, StandardScaler, sans PCA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4. Decision Tree: max_depth=None, min_samples_split=2, StandardScaler, sans PCA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🎯 Évaluation finale — Test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743200" cy="411480"/>
          </a:xfrm>
          <a:prstGeom prst="rect">
            <a:avLst/>
          </a:prstGeom>
          <a:solidFill>
            <a:srgbClr val="2874A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400" b="1">
                <a:solidFill>
                  <a:srgbClr val="FFFFFF"/>
                </a:solidFill>
              </a:defRPr>
            </a:pPr>
            <a:r>
              <a:t>Modèle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0" y="1188720"/>
            <a:ext cx="1828800" cy="411480"/>
          </a:xfrm>
          <a:prstGeom prst="rect">
            <a:avLst/>
          </a:prstGeom>
          <a:solidFill>
            <a:srgbClr val="2874A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400" b="1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1188720"/>
            <a:ext cx="1828800" cy="411480"/>
          </a:xfrm>
          <a:prstGeom prst="rect">
            <a:avLst/>
          </a:prstGeom>
          <a:solidFill>
            <a:srgbClr val="2874A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400" b="1">
                <a:solidFill>
                  <a:srgbClr val="FFFFFF"/>
                </a:solidFill>
              </a:defRPr>
            </a:pPr>
            <a:r>
              <a:t>Precision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188720"/>
            <a:ext cx="1828800" cy="411480"/>
          </a:xfrm>
          <a:prstGeom prst="rect">
            <a:avLst/>
          </a:prstGeom>
          <a:solidFill>
            <a:srgbClr val="2874A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400" b="1">
                <a:solidFill>
                  <a:srgbClr val="FFFFFF"/>
                </a:solidFill>
              </a:defRPr>
            </a:pPr>
            <a:r>
              <a:t>Recall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1188720"/>
            <a:ext cx="1828800" cy="411480"/>
          </a:xfrm>
          <a:prstGeom prst="rect">
            <a:avLst/>
          </a:prstGeom>
          <a:solidFill>
            <a:srgbClr val="2874A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400" b="1">
                <a:solidFill>
                  <a:srgbClr val="FFFFFF"/>
                </a:solidFill>
              </a:defRPr>
            </a:pPr>
            <a:r>
              <a:t>F1-Score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24160" y="1188720"/>
            <a:ext cx="1828800" cy="411480"/>
          </a:xfrm>
          <a:prstGeom prst="rect">
            <a:avLst/>
          </a:prstGeom>
          <a:solidFill>
            <a:srgbClr val="2874A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400" b="1">
                <a:solidFill>
                  <a:srgbClr val="FFFFFF"/>
                </a:solidFill>
              </a:defRPr>
            </a:pPr>
            <a:r>
              <a:t>AUC-ROC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00200"/>
            <a:ext cx="2743200" cy="457200"/>
          </a:xfrm>
          <a:prstGeom prst="rect">
            <a:avLst/>
          </a:prstGeom>
          <a:solidFill>
            <a:srgbClr val="E8F5E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300" b="1">
                <a:solidFill>
                  <a:srgbClr val="2C3E50"/>
                </a:solidFill>
              </a:defRPr>
            </a:pPr>
            <a:r>
              <a:t>🥇 SVM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600200"/>
            <a:ext cx="1828800" cy="457200"/>
          </a:xfrm>
          <a:prstGeom prst="rect">
            <a:avLst/>
          </a:prstGeom>
          <a:solidFill>
            <a:srgbClr val="E8F5E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300" b="1">
                <a:solidFill>
                  <a:srgbClr val="2C3E50"/>
                </a:solidFill>
              </a:defRPr>
            </a:pPr>
            <a:r>
              <a:t>96.49%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600200"/>
            <a:ext cx="1828800" cy="457200"/>
          </a:xfrm>
          <a:prstGeom prst="rect">
            <a:avLst/>
          </a:prstGeom>
          <a:solidFill>
            <a:srgbClr val="E8F5E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300" b="1">
                <a:solidFill>
                  <a:srgbClr val="2C3E50"/>
                </a:solidFill>
              </a:defRPr>
            </a:pPr>
            <a:r>
              <a:t>98.57%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600200"/>
            <a:ext cx="1828800" cy="457200"/>
          </a:xfrm>
          <a:prstGeom prst="rect">
            <a:avLst/>
          </a:prstGeom>
          <a:solidFill>
            <a:srgbClr val="E8F5E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300" b="1">
                <a:solidFill>
                  <a:srgbClr val="2C3E50"/>
                </a:solidFill>
              </a:defRPr>
            </a:pPr>
            <a:r>
              <a:t>95.83%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1600200"/>
            <a:ext cx="1828800" cy="457200"/>
          </a:xfrm>
          <a:prstGeom prst="rect">
            <a:avLst/>
          </a:prstGeom>
          <a:solidFill>
            <a:srgbClr val="E8F5E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300" b="1">
                <a:solidFill>
                  <a:srgbClr val="2C3E50"/>
                </a:solidFill>
              </a:defRPr>
            </a:pPr>
            <a:r>
              <a:t>97.18%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24160" y="1600200"/>
            <a:ext cx="1828800" cy="457200"/>
          </a:xfrm>
          <a:prstGeom prst="rect">
            <a:avLst/>
          </a:prstGeom>
          <a:solidFill>
            <a:srgbClr val="E8F5E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300" b="1">
                <a:solidFill>
                  <a:srgbClr val="2C3E50"/>
                </a:solidFill>
              </a:defRPr>
            </a:pPr>
            <a:r>
              <a:t>99.37%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057400"/>
            <a:ext cx="2743200" cy="457200"/>
          </a:xfrm>
          <a:prstGeom prst="rect">
            <a:avLst/>
          </a:prstGeom>
          <a:solidFill>
            <a:srgbClr val="FFF3E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300">
                <a:solidFill>
                  <a:srgbClr val="2C3E50"/>
                </a:solidFill>
              </a:defRPr>
            </a:pPr>
            <a:r>
              <a:t>🥈 KNN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2057400"/>
            <a:ext cx="1828800" cy="457200"/>
          </a:xfrm>
          <a:prstGeom prst="rect">
            <a:avLst/>
          </a:prstGeom>
          <a:solidFill>
            <a:srgbClr val="FFF3E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300">
                <a:solidFill>
                  <a:srgbClr val="2C3E50"/>
                </a:solidFill>
              </a:defRPr>
            </a:pPr>
            <a:r>
              <a:t>94.74%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2057400"/>
            <a:ext cx="1828800" cy="457200"/>
          </a:xfrm>
          <a:prstGeom prst="rect">
            <a:avLst/>
          </a:prstGeom>
          <a:solidFill>
            <a:srgbClr val="FFF3E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300">
                <a:solidFill>
                  <a:srgbClr val="2C3E50"/>
                </a:solidFill>
              </a:defRPr>
            </a:pPr>
            <a:r>
              <a:t>97.14%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2057400"/>
            <a:ext cx="1828800" cy="457200"/>
          </a:xfrm>
          <a:prstGeom prst="rect">
            <a:avLst/>
          </a:prstGeom>
          <a:solidFill>
            <a:srgbClr val="FFF3E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300">
                <a:solidFill>
                  <a:srgbClr val="2C3E50"/>
                </a:solidFill>
              </a:defRPr>
            </a:pPr>
            <a:r>
              <a:t>94.44%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2057400"/>
            <a:ext cx="1828800" cy="457200"/>
          </a:xfrm>
          <a:prstGeom prst="rect">
            <a:avLst/>
          </a:prstGeom>
          <a:solidFill>
            <a:srgbClr val="FFF3E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300">
                <a:solidFill>
                  <a:srgbClr val="2C3E50"/>
                </a:solidFill>
              </a:defRPr>
            </a:pPr>
            <a:r>
              <a:t>95.77%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24160" y="2057400"/>
            <a:ext cx="1828800" cy="457200"/>
          </a:xfrm>
          <a:prstGeom prst="rect">
            <a:avLst/>
          </a:prstGeom>
          <a:solidFill>
            <a:srgbClr val="FFF3E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300">
                <a:solidFill>
                  <a:srgbClr val="2C3E50"/>
                </a:solidFill>
              </a:defRPr>
            </a:pPr>
            <a:r>
              <a:t>98.91%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514600"/>
            <a:ext cx="2743200" cy="457200"/>
          </a:xfrm>
          <a:prstGeom prst="rect">
            <a:avLst/>
          </a:prstGeom>
          <a:solidFill>
            <a:srgbClr val="E3F2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300">
                <a:solidFill>
                  <a:srgbClr val="2C3E50"/>
                </a:solidFill>
              </a:defRPr>
            </a:pPr>
            <a:r>
              <a:t>🥉 Logistic Reg.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2514600"/>
            <a:ext cx="1828800" cy="457200"/>
          </a:xfrm>
          <a:prstGeom prst="rect">
            <a:avLst/>
          </a:prstGeom>
          <a:solidFill>
            <a:srgbClr val="E3F2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300">
                <a:solidFill>
                  <a:srgbClr val="2C3E50"/>
                </a:solidFill>
              </a:defRPr>
            </a:pPr>
            <a:r>
              <a:t>94.74%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2514600"/>
            <a:ext cx="1828800" cy="457200"/>
          </a:xfrm>
          <a:prstGeom prst="rect">
            <a:avLst/>
          </a:prstGeom>
          <a:solidFill>
            <a:srgbClr val="E3F2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300">
                <a:solidFill>
                  <a:srgbClr val="2C3E50"/>
                </a:solidFill>
              </a:defRPr>
            </a:pPr>
            <a:r>
              <a:t>98.53%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2514600"/>
            <a:ext cx="1828800" cy="457200"/>
          </a:xfrm>
          <a:prstGeom prst="rect">
            <a:avLst/>
          </a:prstGeom>
          <a:solidFill>
            <a:srgbClr val="E3F2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300">
                <a:solidFill>
                  <a:srgbClr val="2C3E50"/>
                </a:solidFill>
              </a:defRPr>
            </a:pPr>
            <a:r>
              <a:t>93.06%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0" y="2514600"/>
            <a:ext cx="1828800" cy="457200"/>
          </a:xfrm>
          <a:prstGeom prst="rect">
            <a:avLst/>
          </a:prstGeom>
          <a:solidFill>
            <a:srgbClr val="E3F2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300">
                <a:solidFill>
                  <a:srgbClr val="2C3E50"/>
                </a:solidFill>
              </a:defRPr>
            </a:pPr>
            <a:r>
              <a:t>95.71%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24160" y="2514600"/>
            <a:ext cx="1828800" cy="457200"/>
          </a:xfrm>
          <a:prstGeom prst="rect">
            <a:avLst/>
          </a:prstGeom>
          <a:solidFill>
            <a:srgbClr val="E3F2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300">
                <a:solidFill>
                  <a:srgbClr val="2C3E50"/>
                </a:solidFill>
              </a:defRPr>
            </a:pPr>
            <a:r>
              <a:t>99.54%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971800"/>
            <a:ext cx="2743200" cy="457200"/>
          </a:xfrm>
          <a:prstGeom prst="rect">
            <a:avLst/>
          </a:prstGeom>
          <a:solidFill>
            <a:srgbClr val="FFEB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300">
                <a:solidFill>
                  <a:srgbClr val="2C3E50"/>
                </a:solidFill>
              </a:defRPr>
            </a:pPr>
            <a:r>
              <a:t>Decision Tree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0" y="2971800"/>
            <a:ext cx="1828800" cy="457200"/>
          </a:xfrm>
          <a:prstGeom prst="rect">
            <a:avLst/>
          </a:prstGeom>
          <a:solidFill>
            <a:srgbClr val="FFEB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300">
                <a:solidFill>
                  <a:srgbClr val="2C3E50"/>
                </a:solidFill>
              </a:defRPr>
            </a:pPr>
            <a:r>
              <a:t>93.08%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2971800"/>
            <a:ext cx="1828800" cy="457200"/>
          </a:xfrm>
          <a:prstGeom prst="rect">
            <a:avLst/>
          </a:prstGeom>
          <a:solidFill>
            <a:srgbClr val="FFEB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300">
                <a:solidFill>
                  <a:srgbClr val="2C3E50"/>
                </a:solidFill>
              </a:defRPr>
            </a:pPr>
            <a:r>
              <a:t>93.24%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2971800"/>
            <a:ext cx="1828800" cy="457200"/>
          </a:xfrm>
          <a:prstGeom prst="rect">
            <a:avLst/>
          </a:prstGeom>
          <a:solidFill>
            <a:srgbClr val="FFEB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300">
                <a:solidFill>
                  <a:srgbClr val="2C3E50"/>
                </a:solidFill>
              </a:defRPr>
            </a:pPr>
            <a:r>
              <a:t>95.83%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95360" y="2971800"/>
            <a:ext cx="1828800" cy="457200"/>
          </a:xfrm>
          <a:prstGeom prst="rect">
            <a:avLst/>
          </a:prstGeom>
          <a:solidFill>
            <a:srgbClr val="FFEB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300">
                <a:solidFill>
                  <a:srgbClr val="2C3E50"/>
                </a:solidFill>
              </a:defRPr>
            </a:pPr>
            <a:r>
              <a:t>94.52%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24160" y="2971800"/>
            <a:ext cx="1828800" cy="457200"/>
          </a:xfrm>
          <a:prstGeom prst="rect">
            <a:avLst/>
          </a:prstGeom>
          <a:solidFill>
            <a:srgbClr val="FFEB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300">
                <a:solidFill>
                  <a:srgbClr val="2C3E50"/>
                </a:solidFill>
              </a:defRPr>
            </a:pPr>
            <a:r>
              <a:t>93.44%</a:t>
            </a:r>
          </a:p>
        </p:txBody>
      </p:sp>
      <p:pic>
        <p:nvPicPr>
          <p:cNvPr id="34" name="Picture 3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566160"/>
            <a:ext cx="5669280" cy="3149600"/>
          </a:xfrm>
          <a:prstGeom prst="rect">
            <a:avLst/>
          </a:prstGeom>
        </p:spPr>
      </p:pic>
      <p:pic>
        <p:nvPicPr>
          <p:cNvPr id="35" name="Picture 34" descr="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566160"/>
            <a:ext cx="566928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🧮 Matrices de confusion</a:t>
            </a:r>
          </a:p>
        </p:txBody>
      </p:sp>
      <p:pic>
        <p:nvPicPr>
          <p:cNvPr id="4" name="Picture 3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753465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943600"/>
            <a:ext cx="11430000" cy="731520"/>
          </a:xfrm>
          <a:prstGeom prst="roundRect">
            <a:avLst/>
          </a:prstGeom>
          <a:solidFill>
            <a:srgbClr val="F5F7FA"/>
          </a:solidFill>
          <a:ln>
            <a:solidFill>
              <a:srgbClr val="28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2C3E50"/>
                </a:solidFill>
              </a:defRPr>
            </a:pPr>
            <a:r>
              <a:t>SVM: 1 faux négatif, 3 faux positifs — Excellent équilibre precision/recall en contexte médical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Importance des features (Permutation Importance)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79" y="1188720"/>
            <a:ext cx="4206240" cy="5029200"/>
          </a:xfrm>
          <a:prstGeom prst="roundRect">
            <a:avLst/>
          </a:prstGeom>
          <a:solidFill>
            <a:srgbClr val="F5F7FA"/>
          </a:solidFill>
          <a:ln>
            <a:solidFill>
              <a:srgbClr val="28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5276"/>
                </a:solidFill>
              </a:defRPr>
            </a:pPr>
            <a:r>
              <a:t>Top 10 features clés: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1. worst concave points: 0.042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2. worst perimeter: 0.038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3. worst radius: 0.035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4. mean concave points: 0.032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5. worst area: 0.028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6. mean perimeter: 0.025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7. mean radius: 0.022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8. worst texture: 0.018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9. mean concavity: 0.015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10. area error: 0.012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🏆 Meilleur modèle: SVM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8F8E8"/>
                </a:solidFill>
              </a:defRPr>
            </a:pPr>
            <a:r>
              <a:t>Kernel RBF • C=10 • MinMaxScaler • Sans PCA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28600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27AE60"/>
                </a:solidFill>
              </a:defRPr>
            </a:pPr>
            <a:r>
              <a:t>96.5%</a:t>
            </a:r>
          </a:p>
          <a:p>
            <a:pPr algn="ctr">
              <a:defRPr sz="1400">
                <a:solidFill>
                  <a:srgbClr val="666666"/>
                </a:solidFill>
              </a:defRPr>
            </a:pPr>
            <a:r>
              <a:t>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28600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27AE60"/>
                </a:solidFill>
              </a:defRPr>
            </a:pPr>
            <a:r>
              <a:t>97.2%</a:t>
            </a:r>
          </a:p>
          <a:p>
            <a:pPr algn="ctr">
              <a:defRPr sz="1400">
                <a:solidFill>
                  <a:srgbClr val="666666"/>
                </a:solidFill>
              </a:defRPr>
            </a:pPr>
            <a:r>
              <a:t>F1-Score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28600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27AE60"/>
                </a:solidFill>
              </a:defRPr>
            </a:pPr>
            <a:r>
              <a:t>99.4%</a:t>
            </a:r>
          </a:p>
          <a:p>
            <a:pPr algn="ctr">
              <a:defRPr sz="1400">
                <a:solidFill>
                  <a:srgbClr val="666666"/>
                </a:solidFill>
              </a:defRPr>
            </a:pPr>
            <a:r>
              <a:t>AUC-ROC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749039"/>
            <a:ext cx="56692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28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A5276"/>
                </a:solidFill>
              </a:defRPr>
            </a:pPr>
            <a:r>
              <a:t>💡 Interprétation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• F1-score 97.2% &gt;&gt; seuil 90%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• AUC-ROC 99.4% &gt;&gt; seuil 90%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• Recall 95.8%: 96% des cas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  malignes détectés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• Seulement 1 faux négatif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  sur 114 cas test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→ Performance satisfaisante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→ Prêt pour déploiement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49039"/>
            <a:ext cx="56692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28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A5276"/>
                </a:solidFill>
              </a:defRPr>
            </a:pPr>
            <a:r>
              <a:t>📦 Livrables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• best_breast_cancer_model.joblib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  (pipeline complet)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• cross_validation_results.csv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• test_results.csv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• feature_importance.csv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• monitoring_report.csv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• conclusion_rapport.txt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• 6 visualisations (.png)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